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e17a85a8174171" /><Relationship Type="http://schemas.openxmlformats.org/officeDocument/2006/relationships/extended-properties" Target="/docProps/app.xml" Id="Re55c9b03e0f64122" /><Relationship Type="http://schemas.openxmlformats.org/officeDocument/2006/relationships/officeDocument" Target="/ppt/presentation.xml" Id="R6ca57a82c7b7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f0a3bbd6a34df0"/>
  </p:sldMasterIdLst>
  <p:notesMasterIdLst>
    <p:notesMasterId xmlns:r="http://schemas.openxmlformats.org/officeDocument/2006/relationships" r:id="R6866a52c58d347d5"/>
  </p:notesMasterIdLst>
  <p:sldIdLst>
    <p:sldId xmlns:r="http://schemas.openxmlformats.org/officeDocument/2006/relationships" id="256" r:id="R05314709445240c6"/>
  </p:sldIdLst>
  <p:sldSz cx="114300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26d9eb2eb47cd" /><Relationship Type="http://schemas.openxmlformats.org/officeDocument/2006/relationships/slideMaster" Target="/ppt/slideMasters/slideMaster1.xml" Id="Rfef0a3bbd6a34df0" /><Relationship Type="http://schemas.openxmlformats.org/officeDocument/2006/relationships/notesMaster" Target="/ppt/notesMasters/notesMaster1.xml" Id="R6866a52c58d347d5" /><Relationship Type="http://schemas.openxmlformats.org/officeDocument/2006/relationships/presProps" Target="/ppt/presProps.xml" Id="R09d4514707a547fc" /><Relationship Type="http://schemas.openxmlformats.org/officeDocument/2006/relationships/tableStyles" Target="/ppt/tableStyles.xml" Id="R477ed346a12b4b34" /><Relationship Type="http://schemas.openxmlformats.org/officeDocument/2006/relationships/slide" Target="/ppt/slides/slide1.xml" Id="R053147094452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2020addbd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5f3bcb92c423c" /><Relationship Type="http://schemas.openxmlformats.org/officeDocument/2006/relationships/notesMaster" Target="/ppt/notesMasters/notesMaster1.xml" Id="R0c5983c2c674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Hsu-inspired adaptation, not exact paper reproduction. Fixed ESM-2 WT masked-marginal log odds are summed at substitutions and concatenated with delta one-hot sequence features. Separate Ridge models use observed C labels from eligible members of the 81-construct pool. Missing labels are not zero. Inner grouped CV selects parameters within each outer training fold; 66 complete sequence groups supply OOF evaluation. Sources: data/protocol.json and data/comparison_all66.csv; https://doi.org/10.1038/s41587-021-01146-5. Native shapes, text and connectors created by code with explicit user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11a074ada46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87780c7af4a36" /><Relationship Type="http://schemas.openxmlformats.org/officeDocument/2006/relationships/slideLayout" Target="/ppt/slideLayouts/slideLayout1.xml" Id="R81cf800757bb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f800757bb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947b9d7304d60" /><Relationship Type="http://schemas.openxmlformats.org/officeDocument/2006/relationships/notesSlide" Target="/ppt/notesSlides/notesSlide1.xml" Id="R82ebb185f497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quence">
            <a:extLst xmlns:a="http://schemas.openxmlformats.org/drawingml/2006/main">
              <a:ext uri="{FF2B5EF4-FFF2-40B4-BE49-F238E27FC236}">
                <a16:creationId xmlns:a16="http://schemas.microsoft.com/office/drawing/2014/main" id="{47CB1637-498B-4C25-9F01-3D264AA1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71625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493-aa PUF</a:t>
            </a:r>
          </a:p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sequence</a:t>
            </a:r>
          </a:p>
        </p:txBody>
      </p:sp>
      <p:sp>
        <p:nvSpPr>
          <p:cNvPr id="2" name="esm">
            <a:extLst xmlns:a="http://schemas.openxmlformats.org/drawingml/2006/main">
              <a:ext uri="{FF2B5EF4-FFF2-40B4-BE49-F238E27FC236}">
                <a16:creationId xmlns:a16="http://schemas.microsoft.com/office/drawing/2014/main" id="{36F83FCD-50B2-4382-9519-F56166A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9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Frozen ESM-2 35M</a:t>
            </a:r>
          </a:p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mutation score</a:t>
            </a:r>
          </a:p>
        </p:txBody>
      </p:sp>
      <p:sp>
        <p:nvSpPr>
          <p:cNvPr id="3" name="onehot">
            <a:extLst xmlns:a="http://schemas.openxmlformats.org/drawingml/2006/main">
              <a:ext uri="{FF2B5EF4-FFF2-40B4-BE49-F238E27FC236}">
                <a16:creationId xmlns:a16="http://schemas.microsoft.com/office/drawing/2014/main" id="{51A2430D-0FBA-49A3-829A-ACA192A2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Reference-centred</a:t>
            </a:r>
          </a:p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one-hot encoding</a:t>
            </a:r>
          </a:p>
        </p:txBody>
      </p:sp>
      <p:sp>
        <p:nvSpPr>
          <p:cNvPr id="4" name="ridge">
            <a:extLst xmlns:a="http://schemas.openxmlformats.org/drawingml/2006/main">
              <a:ext uri="{FF2B5EF4-FFF2-40B4-BE49-F238E27FC236}">
                <a16:creationId xmlns:a16="http://schemas.microsoft.com/office/drawing/2014/main" id="{6F5BFA36-1A4B-460E-9DB5-13F65284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00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8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Three Ridge outputs</a:t>
            </a:r>
          </a:p>
          <a:p xmlns:a="http://schemas.openxmlformats.org/drawingml/2006/main">
            <a:pPr algn="ctr">
              <a:defRPr sz="202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202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C295 · C388 · C871</a:t>
            </a:r>
          </a:p>
        </p:txBody>
      </p:sp>
      <p:cxnSp>
        <p:nvCxnSpPr>
          <p:cNvPr id="19" name=""/>
          <p:cNvCxnSpPr>
            <a:stCxn xmlns:a="http://schemas.openxmlformats.org/drawingml/2006/main" id="15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2286000" y="1119188"/>
            <a:ext cx="666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15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286000" y="2119313"/>
            <a:ext cx="666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096000" y="1119188"/>
            <a:ext cx="857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6096000" y="2119313"/>
            <a:ext cx="857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sp>
        <p:nvSpPr>
          <p:cNvPr id="9" name="validation">
            <a:extLst xmlns:a="http://schemas.openxmlformats.org/drawingml/2006/main">
              <a:ext uri="{FF2B5EF4-FFF2-40B4-BE49-F238E27FC236}">
                <a16:creationId xmlns:a16="http://schemas.microsoft.com/office/drawing/2014/main" id="{6EAE84DA-8BCC-46E7-A200-61BCFBAF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87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Grouped inner CV</a:t>
            </a:r>
          </a:p>
          <a:p xmlns:a="http://schemas.openxmlformats.org/drawingml/2006/main">
            <a:pPr algn="ctr">
              <a:defRPr sz="1875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875">
                <a:solidFill>
                  <a:srgbClr val="171536"/>
                </a:solidFill>
                <a:latin typeface="Futura"/>
                <a:ea typeface="Futura"/>
                <a:cs typeface="Futura"/>
              </a:rPr>
              <a:t>A: Spearman selection</a:t>
            </a:r>
          </a:p>
        </p:txBody>
      </p:sp>
      <p:cxnSp>
        <p:nvCxnSpPr>
          <p:cNvPr id="24" name=""/>
          <p:cNvCxnSpPr>
            <a:stCxn xmlns:a="http://schemas.openxmlformats.org/drawingml/2006/main" id="9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8953500" y="11430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sp>
        <p:nvSpPr>
          <p:cNvPr id="11" name="specificity">
            <a:extLst xmlns:a="http://schemas.openxmlformats.org/drawingml/2006/main">
              <a:ext uri="{FF2B5EF4-FFF2-40B4-BE49-F238E27FC236}">
                <a16:creationId xmlns:a16="http://schemas.microsoft.com/office/drawing/2014/main" id="{7775E323-5953-4E89-B890-5E029BB1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476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C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950">
                <a:solidFill>
                  <a:srgbClr val="171536"/>
                </a:solidFill>
                <a:latin typeface="Futura"/>
                <a:ea typeface="Futura"/>
                <a:cs typeface="Futura"/>
              </a:rPr>
              <a:t>Predicted specificity</a:t>
            </a:r>
          </a:p>
          <a:p xmlns:a="http://schemas.openxmlformats.org/drawingml/2006/main">
            <a:pPr algn="ctr">
              <a:defRPr sz="1950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950">
                <a:solidFill>
                  <a:srgbClr val="171536"/>
                </a:solidFill>
                <a:latin typeface="Futura"/>
                <a:ea typeface="Futura"/>
                <a:cs typeface="Futura"/>
              </a:rPr>
              <a:t>S = C388 − (C295 + C871)/2</a:t>
            </a:r>
          </a:p>
        </p:txBody>
      </p:sp>
      <p:cxnSp>
        <p:nvCxnSpPr>
          <p:cNvPr id="26" name=""/>
          <p:cNvCxnSpPr>
            <a:stCxn xmlns:a="http://schemas.openxmlformats.org/drawingml/2006/main" id="4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8715375" y="2667000"/>
            <a:ext cx="238125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  <p:sp>
        <p:nvSpPr>
          <p:cNvPr id="13" name="evaluation">
            <a:extLst xmlns:a="http://schemas.openxmlformats.org/drawingml/2006/main">
              <a:ext uri="{FF2B5EF4-FFF2-40B4-BE49-F238E27FC236}">
                <a16:creationId xmlns:a16="http://schemas.microsoft.com/office/drawing/2014/main" id="{6E2A362D-3565-4129-BCF7-734FCD9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4714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E267C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950">
                <a:solidFill>
                  <a:srgbClr val="171536"/>
                </a:solidFill>
                <a:latin typeface="Futura"/>
                <a:ea typeface="Futura"/>
                <a:cs typeface="Futura"/>
              </a:rPr>
              <a:t>66 held-out predictions</a:t>
            </a:r>
          </a:p>
          <a:p xmlns:a="http://schemas.openxmlformats.org/drawingml/2006/main">
            <a:pPr algn="ctr">
              <a:defRPr sz="1950">
                <a:solidFill>
                  <a:srgbClr val="171536"/>
                </a:solidFill>
                <a:latin typeface="Futura"/>
                <a:ea typeface="Futura"/>
                <a:cs typeface="Futura"/>
              </a:defRPr>
            </a:pPr>
            <a:r>
              <a:rPr sz="1950">
                <a:solidFill>
                  <a:srgbClr val="171536"/>
                </a:solidFill>
                <a:latin typeface="Futura"/>
                <a:ea typeface="Futura"/>
                <a:cs typeface="Futura"/>
              </a:rPr>
              <a:t>Top30 vs random expectation</a:t>
            </a:r>
          </a:p>
        </p:txBody>
      </p:sp>
      <p:cxnSp>
        <p:nvCxnSpPr>
          <p:cNvPr id="28" name=""/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334000" y="5024438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E267C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6240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2026-09-28T08:20:52.0400000Z</dcterms:created>
  <dcterms:modified xsi:type="dcterms:W3CDTF">2026-09-28T08:20:52.0400000Z</dcterms:modified>
</coreProperties>
</file>